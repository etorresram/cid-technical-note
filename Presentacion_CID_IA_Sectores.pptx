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658368" y="1874519"/>
            <a:ext cx="1463040" cy="0"/>
          </a:xfrm>
          <a:prstGeom prst="line">
            <a:avLst/>
          </a:prstGeom>
          <a:ln w="50800">
            <a:solidFill>
              <a:srgbClr val="1BA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658368" y="13258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6B6A64"/>
                </a:solidFill>
                <a:latin typeface="Calibri"/>
              </a:rPr>
              <a:t>NOTA TÉCNICA · DEPARTAMENTO DE PAÍSES CID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1042416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4000" b="1">
                <a:solidFill>
                  <a:srgbClr val="1C1C1A"/>
                </a:solidFill>
                <a:latin typeface="Calibri"/>
              </a:rPr>
              <a:t>Los empleos de los sectores exportadores
y la inteligencia artificial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794760"/>
            <a:ext cx="93268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700" b="0">
                <a:solidFill>
                  <a:srgbClr val="6B6A64"/>
                </a:solidFill>
                <a:latin typeface="Calibri"/>
              </a:rPr>
              <a:t>Qué trabajos sostienen a los sectores que más crecen en la región, qué tanto los alcanza la IA, y si la región está formando a la gente que esos sectores necesitan.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5532120"/>
            <a:ext cx="10874959" cy="0"/>
          </a:xfrm>
          <a:prstGeom prst="line">
            <a:avLst/>
          </a:prstGeom>
          <a:ln w="19050">
            <a:solidFill>
              <a:srgbClr val="E4E4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571500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6B6A64"/>
                </a:solidFill>
                <a:latin typeface="Calibri"/>
              </a:rPr>
              <a:t>6 encuestas de empleo  ·  2,5 millones de anuncios de trabajo  ·  2015–2026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02336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B6A64"/>
                </a:solidFill>
                <a:latin typeface="Calibri"/>
              </a:rPr>
              <a:t>PUNTO DE PARTIDA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87495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3000" b="1">
                <a:solidFill>
                  <a:srgbClr val="1C1C1A"/>
                </a:solidFill>
                <a:latin typeface="Calibri"/>
              </a:rPr>
              <a:t>La Nota Técnica dejó una pregunta abierta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874519"/>
            <a:ext cx="521208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1C1C1A"/>
                </a:solidFill>
                <a:latin typeface="Calibri"/>
              </a:rPr>
              <a:t>Lo que ya sabemos por las secciones anteriores: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1C1C1A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1C1C1A"/>
                </a:solidFill>
                <a:latin typeface="Calibri"/>
              </a:rPr>
              <a:t>•  Desde 2011 la región exporta mucho más en dispositivos médicos (del 4% al 13% del total) y en cables y aparatos eléctricos.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1C1C1A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1C1C1A"/>
                </a:solidFill>
                <a:latin typeface="Calibri"/>
              </a:rPr>
              <a:t>•  El sector de cables formó una cadena entre países; el de dispositivos médicos exporta casi todo fuera de la región.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1C1C1A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1C1C1A"/>
                </a:solidFill>
                <a:latin typeface="Calibri"/>
              </a:rPr>
              <a:t>•  Los países que más exportan estos productos son los que tienen más gente con educación superior.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0" y="1874519"/>
            <a:ext cx="914" cy="0"/>
          </a:xfrm>
          <a:prstGeom prst="line">
            <a:avLst/>
          </a:prstGeom>
          <a:ln w="19050">
            <a:solidFill>
              <a:srgbClr val="E4E4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675120" y="1874519"/>
            <a:ext cx="484632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600" b="0">
                <a:solidFill>
                  <a:srgbClr val="1C1C1A"/>
                </a:solidFill>
                <a:latin typeface="Calibri"/>
              </a:rPr>
              <a:t>Lo que faltaba mirar: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600" b="0">
                <a:solidFill>
                  <a:srgbClr val="1C1C1A"/>
                </a:solidFill>
                <a:latin typeface="Calibri"/>
              </a:rPr>
              <a:t/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600" b="0">
                <a:solidFill>
                  <a:srgbClr val="1C1C1A"/>
                </a:solidFill>
                <a:latin typeface="Calibri"/>
              </a:rPr>
              <a:t>¿Qué empleos concretos sostienen hoy esos sectores?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600" b="0">
                <a:solidFill>
                  <a:srgbClr val="1C1C1A"/>
                </a:solidFill>
                <a:latin typeface="Calibri"/>
              </a:rPr>
              <a:t/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600" b="0">
                <a:solidFill>
                  <a:srgbClr val="1C1C1A"/>
                </a:solidFill>
                <a:latin typeface="Calibri"/>
              </a:rPr>
              <a:t>¿A cuáles de esos empleos alcanza la inteligencia artificial?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600" b="0">
                <a:solidFill>
                  <a:srgbClr val="1C1C1A"/>
                </a:solidFill>
                <a:latin typeface="Calibri"/>
              </a:rPr>
              <a:t/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600" b="0">
                <a:solidFill>
                  <a:srgbClr val="1C1C1A"/>
                </a:solidFill>
                <a:latin typeface="Calibri"/>
              </a:rPr>
              <a:t>¿Está la región formando —y contratando— a la gente que esos sectores necesitan para crecer?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5394960"/>
            <a:ext cx="48463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1BAF7A"/>
                </a:solidFill>
                <a:latin typeface="Calibri"/>
              </a:rPr>
              <a:t>Esta sección responde esas tres preguntas con datos de empleo y de anuncios de trabajo.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02336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B6A64"/>
                </a:solidFill>
                <a:latin typeface="Calibri"/>
              </a:rPr>
              <a:t>CÓMO SE MIDE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87495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3000" b="1">
                <a:solidFill>
                  <a:srgbClr val="1C1C1A"/>
                </a:solidFill>
                <a:latin typeface="Calibri"/>
              </a:rPr>
              <a:t>Qué quiere decir que un empleo esté “expuesto”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828800"/>
            <a:ext cx="108813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600" b="0">
                <a:solidFill>
                  <a:srgbClr val="1C1C1A"/>
                </a:solidFill>
                <a:latin typeface="Calibri"/>
              </a:rPr>
              <a:t>Un equipo de investigadores revisó, tarea por tarea, todas las ocupaciones del catálogo laboral de Estados Unidos, y marcó cuáles se pueden hacer en la mitad de tiempo (o menos) usando inteligencia artificial. La exposición de un empleo es el porcentaje de sus tareas que cumple esa condición.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3246120"/>
            <a:ext cx="10874959" cy="0"/>
          </a:xfrm>
          <a:prstGeom prst="line">
            <a:avLst/>
          </a:prstGeom>
          <a:ln w="19050">
            <a:solidFill>
              <a:srgbClr val="E4E4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3474720"/>
            <a:ext cx="521208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1C1C1A"/>
                </a:solidFill>
                <a:latin typeface="Calibri"/>
              </a:rPr>
              <a:t>Qué SÍ dice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1C1C1A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1C1C1A"/>
                </a:solidFill>
                <a:latin typeface="Calibri"/>
              </a:rPr>
              <a:t>Que buena parte del trabajo de esa persona podría hacerse más rápido con estas herramientas.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3474720"/>
            <a:ext cx="51206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1C1C1A"/>
                </a:solidFill>
                <a:latin typeface="Calibri"/>
              </a:rPr>
              <a:t>Qué NO dice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1C1C1A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1C1C1A"/>
                </a:solidFill>
                <a:latin typeface="Calibri"/>
              </a:rPr>
              <a:t>Que el puesto vaya a desaparecer. Ahorrar tiempo puede significar reemplazar a alguien o hacerlo más productivo: la medida no distingue entre las dos cosas, y en esta presentación no se afirma ninguna.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562356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>
                <a:solidFill>
                  <a:srgbClr val="6B6A64"/>
                </a:solidFill>
                <a:latin typeface="Calibri"/>
              </a:rPr>
              <a:t>Los puntajes se traducen a los códigos de ocupación de cada encuesta con las tablas oficiales de equivalencia.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02336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B6A64"/>
                </a:solidFill>
                <a:latin typeface="Calibri"/>
              </a:rPr>
              <a:t>DE DÓNDE SALEN LOS DATOS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87495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3000" b="1">
                <a:solidFill>
                  <a:srgbClr val="1C1C1A"/>
                </a:solidFill>
                <a:latin typeface="Calibri"/>
              </a:rPr>
              <a:t>Dos fuentes que se miran por separado y luego se comparan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78308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900" b="1">
                <a:solidFill>
                  <a:srgbClr val="2A78D6"/>
                </a:solidFill>
                <a:latin typeface="Calibri"/>
              </a:rPr>
              <a:t>Encuestas de empleo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40280"/>
            <a:ext cx="521208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1C1C1A"/>
                </a:solidFill>
                <a:latin typeface="Calibri"/>
              </a:rPr>
              <a:t>Quién tiene hoy cada empleo. Seis países, entre 2021 y 2025.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1C1C1A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1C1C1A"/>
                </a:solidFill>
                <a:latin typeface="Calibri"/>
              </a:rPr>
              <a:t>México (ENOE) · Costa Rica (ECE) · El Salvador (EHPM) · Honduras (EPHPM) · Guatemala (ENCOVI) · República Dominicana (ENCFT)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1C1C1A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1C1C1A"/>
                </a:solidFill>
                <a:latin typeface="Calibri"/>
              </a:rPr>
              <a:t>No hay datos de Nicaragua ni de Panamá.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78308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900" b="1">
                <a:solidFill>
                  <a:srgbClr val="4A3AA7"/>
                </a:solidFill>
                <a:latin typeface="Calibri"/>
              </a:rPr>
              <a:t>Anuncios de trabajo en línea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240280"/>
            <a:ext cx="512064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1C1C1A"/>
                </a:solidFill>
                <a:latin typeface="Calibri"/>
              </a:rPr>
              <a:t>Qué empleos se están buscando. 2,5 millones de anuncios del Observatorio Laboral del BID, entre junio de 2022 y mayo de 2026.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1C1C1A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1C1C1A"/>
                </a:solidFill>
                <a:latin typeface="Calibri"/>
              </a:rPr>
              <a:t>México · Guatemala · Honduras · Costa Rica · República Dominicana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1C1C1A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1C1C1A"/>
                </a:solidFill>
                <a:latin typeface="Calibri"/>
              </a:rPr>
              <a:t>El Salvador y Panamá no fueron entregados.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8368" y="5074920"/>
            <a:ext cx="10874959" cy="0"/>
          </a:xfrm>
          <a:prstGeom prst="line">
            <a:avLst/>
          </a:prstGeom>
          <a:ln w="19050">
            <a:solidFill>
              <a:srgbClr val="E4E4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5303520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1C1C1A"/>
                </a:solidFill>
                <a:latin typeface="Calibri"/>
              </a:rPr>
              <a:t>Siguiendo el criterio de la Nota Técnica, los resultados se presentan comparando CAPARD con México. Nuestro CAPARD es parcial: cuatro o cinco países según el dato, nunca los siete.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02336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B6A64"/>
                </a:solidFill>
                <a:latin typeface="Calibri"/>
              </a:rPr>
              <a:t>LA LETRA CHICA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87495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3000" b="1">
                <a:solidFill>
                  <a:srgbClr val="1C1C1A"/>
                </a:solidFill>
                <a:latin typeface="Calibri"/>
              </a:rPr>
              <a:t>Ningún resultado cubre los siete países de CAPARD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58368" y="1783080"/>
          <a:ext cx="7863837" cy="3108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79136"/>
                <a:gridCol w="1231685"/>
                <a:gridCol w="1515920"/>
                <a:gridCol w="1326430"/>
                <a:gridCol w="1610666"/>
              </a:tblGrid>
              <a:tr h="345440"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6B6A64"/>
                          </a:solidFill>
                        </a:defRPr>
                      </a:pPr>
                      <a:r>
                        <a:t>País</a:t>
                      </a:r>
                    </a:p>
                  </a:txBody>
                  <a:tcPr marL="54864" marR="54864"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defRPr sz="1250" b="1">
                          <a:solidFill>
                            <a:srgbClr val="6B6A64"/>
                          </a:solidFill>
                        </a:defRPr>
                      </a:pPr>
                      <a:r>
                        <a:t>Encuesta</a:t>
                      </a:r>
                    </a:p>
                  </a:txBody>
                  <a:tcPr marL="54864" marR="54864"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defRPr sz="1250" b="1">
                          <a:solidFill>
                            <a:srgbClr val="6B6A64"/>
                          </a:solidFill>
                        </a:defRPr>
                      </a:pPr>
                      <a:r>
                        <a:t>Años</a:t>
                      </a:r>
                    </a:p>
                  </a:txBody>
                  <a:tcPr marL="54864" marR="54864"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defRPr sz="1250" b="1">
                          <a:solidFill>
                            <a:srgbClr val="6B6A64"/>
                          </a:solidFill>
                        </a:defRPr>
                      </a:pPr>
                      <a:r>
                        <a:t>Ocupados</a:t>
                      </a:r>
                    </a:p>
                  </a:txBody>
                  <a:tcPr marL="54864" marR="54864"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defRPr sz="1250" b="1">
                          <a:solidFill>
                            <a:srgbClr val="6B6A64"/>
                          </a:solidFill>
                        </a:defRPr>
                      </a:pPr>
                      <a:r>
                        <a:t>Anuncios</a:t>
                      </a:r>
                    </a:p>
                  </a:txBody>
                  <a:tcPr marL="54864" marR="54864">
                    <a:noFill/>
                  </a:tcPr>
                </a:tc>
              </a:tr>
              <a:tr h="345440">
                <a:tc>
                  <a:txBody>
                    <a:bodyPr/>
                    <a:lstStyle/>
                    <a:p>
                      <a:pPr algn="l">
                        <a:defRPr sz="1250" b="0">
                          <a:solidFill>
                            <a:srgbClr val="6B6A64"/>
                          </a:solidFill>
                        </a:defRPr>
                      </a:pPr>
                      <a:r>
                        <a:t>México</a:t>
                      </a:r>
                    </a:p>
                  </a:txBody>
                  <a:tcPr marL="54864" marR="54864"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defRPr sz="1250" b="0">
                          <a:solidFill>
                            <a:srgbClr val="6B6A64"/>
                          </a:solidFill>
                        </a:defRPr>
                      </a:pPr>
                      <a:r>
                        <a:t>ENOE</a:t>
                      </a:r>
                    </a:p>
                  </a:txBody>
                  <a:tcPr marL="54864" marR="54864"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defRPr sz="1250" b="0">
                          <a:solidFill>
                            <a:srgbClr val="6B6A64"/>
                          </a:solidFill>
                        </a:defRPr>
                      </a:pPr>
                      <a:r>
                        <a:t>2022–2025</a:t>
                      </a:r>
                    </a:p>
                  </a:txBody>
                  <a:tcPr marL="54864" marR="54864"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defRPr sz="1250" b="0">
                          <a:solidFill>
                            <a:srgbClr val="6B6A64"/>
                          </a:solidFill>
                        </a:defRPr>
                      </a:pPr>
                      <a:r>
                        <a:t>59.8 mill.</a:t>
                      </a:r>
                    </a:p>
                  </a:txBody>
                  <a:tcPr marL="54864" marR="54864"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defRPr sz="1250" b="0">
                          <a:solidFill>
                            <a:srgbClr val="6B6A64"/>
                          </a:solidFill>
                        </a:defRPr>
                      </a:pPr>
                      <a:r>
                        <a:t>1 631 491</a:t>
                      </a:r>
                    </a:p>
                  </a:txBody>
                  <a:tcPr marL="54864" marR="54864">
                    <a:noFill/>
                  </a:tcPr>
                </a:tc>
              </a:tr>
              <a:tr h="345440">
                <a:tc>
                  <a:txBody>
                    <a:bodyPr/>
                    <a:lstStyle/>
                    <a:p>
                      <a:pPr algn="l">
                        <a:defRPr sz="1250" b="0">
                          <a:solidFill>
                            <a:srgbClr val="6B6A64"/>
                          </a:solidFill>
                        </a:defRPr>
                      </a:pPr>
                      <a:r>
                        <a:t>Costa Rica</a:t>
                      </a:r>
                    </a:p>
                  </a:txBody>
                  <a:tcPr marL="54864" marR="54864"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defRPr sz="1250" b="0">
                          <a:solidFill>
                            <a:srgbClr val="6B6A64"/>
                          </a:solidFill>
                        </a:defRPr>
                      </a:pPr>
                      <a:r>
                        <a:t>ECE</a:t>
                      </a:r>
                    </a:p>
                  </a:txBody>
                  <a:tcPr marL="54864" marR="54864"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defRPr sz="1250" b="0">
                          <a:solidFill>
                            <a:srgbClr val="6B6A64"/>
                          </a:solidFill>
                        </a:defRPr>
                      </a:pPr>
                      <a:r>
                        <a:t>2016–2025</a:t>
                      </a:r>
                    </a:p>
                  </a:txBody>
                  <a:tcPr marL="54864" marR="54864"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defRPr sz="1250" b="0">
                          <a:solidFill>
                            <a:srgbClr val="6B6A64"/>
                          </a:solidFill>
                        </a:defRPr>
                      </a:pPr>
                      <a:r>
                        <a:t>2.2 mill.</a:t>
                      </a:r>
                    </a:p>
                  </a:txBody>
                  <a:tcPr marL="54864" marR="54864"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defRPr sz="1250" b="0">
                          <a:solidFill>
                            <a:srgbClr val="6B6A64"/>
                          </a:solidFill>
                        </a:defRPr>
                      </a:pPr>
                      <a:r>
                        <a:t>247 036</a:t>
                      </a:r>
                    </a:p>
                  </a:txBody>
                  <a:tcPr marL="54864" marR="54864">
                    <a:noFill/>
                  </a:tcPr>
                </a:tc>
              </a:tr>
              <a:tr h="345440">
                <a:tc>
                  <a:txBody>
                    <a:bodyPr/>
                    <a:lstStyle/>
                    <a:p>
                      <a:pPr algn="l">
                        <a:defRPr sz="1250" b="0">
                          <a:solidFill>
                            <a:srgbClr val="6B6A64"/>
                          </a:solidFill>
                        </a:defRPr>
                      </a:pPr>
                      <a:r>
                        <a:t>Rep. Dominicana</a:t>
                      </a:r>
                    </a:p>
                  </a:txBody>
                  <a:tcPr marL="54864" marR="54864"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defRPr sz="1250" b="0">
                          <a:solidFill>
                            <a:srgbClr val="6B6A64"/>
                          </a:solidFill>
                        </a:defRPr>
                      </a:pPr>
                      <a:r>
                        <a:t>ENCFT</a:t>
                      </a:r>
                    </a:p>
                  </a:txBody>
                  <a:tcPr marL="54864" marR="54864"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defRPr sz="1250" b="0">
                          <a:solidFill>
                            <a:srgbClr val="6B6A64"/>
                          </a:solidFill>
                        </a:defRPr>
                      </a:pPr>
                      <a:r>
                        <a:t>2021 y 2024</a:t>
                      </a:r>
                    </a:p>
                  </a:txBody>
                  <a:tcPr marL="54864" marR="54864"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defRPr sz="1250" b="0">
                          <a:solidFill>
                            <a:srgbClr val="6B6A64"/>
                          </a:solidFill>
                        </a:defRPr>
                      </a:pPr>
                      <a:r>
                        <a:t>5.0 mill.</a:t>
                      </a:r>
                    </a:p>
                  </a:txBody>
                  <a:tcPr marL="54864" marR="54864"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defRPr sz="1250" b="0">
                          <a:solidFill>
                            <a:srgbClr val="6B6A64"/>
                          </a:solidFill>
                        </a:defRPr>
                      </a:pPr>
                      <a:r>
                        <a:t>251 935</a:t>
                      </a:r>
                    </a:p>
                  </a:txBody>
                  <a:tcPr marL="54864" marR="54864">
                    <a:noFill/>
                  </a:tcPr>
                </a:tc>
              </a:tr>
              <a:tr h="345440">
                <a:tc>
                  <a:txBody>
                    <a:bodyPr/>
                    <a:lstStyle/>
                    <a:p>
                      <a:pPr algn="l">
                        <a:defRPr sz="1250" b="0">
                          <a:solidFill>
                            <a:srgbClr val="6B6A64"/>
                          </a:solidFill>
                        </a:defRPr>
                      </a:pPr>
                      <a:r>
                        <a:t>Honduras</a:t>
                      </a:r>
                    </a:p>
                  </a:txBody>
                  <a:tcPr marL="54864" marR="54864"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defRPr sz="1250" b="0">
                          <a:solidFill>
                            <a:srgbClr val="6B6A64"/>
                          </a:solidFill>
                        </a:defRPr>
                      </a:pPr>
                      <a:r>
                        <a:t>EPHPM</a:t>
                      </a:r>
                    </a:p>
                  </a:txBody>
                  <a:tcPr marL="54864" marR="54864"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defRPr sz="1250" b="0">
                          <a:solidFill>
                            <a:srgbClr val="6B6A64"/>
                          </a:solidFill>
                        </a:defRPr>
                      </a:pPr>
                      <a:r>
                        <a:t>2021–2025</a:t>
                      </a:r>
                    </a:p>
                  </a:txBody>
                  <a:tcPr marL="54864" marR="54864"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defRPr sz="1250" b="0">
                          <a:solidFill>
                            <a:srgbClr val="6B6A64"/>
                          </a:solidFill>
                        </a:defRPr>
                      </a:pPr>
                      <a:r>
                        <a:t>4.1 mill.</a:t>
                      </a:r>
                    </a:p>
                  </a:txBody>
                  <a:tcPr marL="54864" marR="54864"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defRPr sz="1250" b="0">
                          <a:solidFill>
                            <a:srgbClr val="6B6A64"/>
                          </a:solidFill>
                        </a:defRPr>
                      </a:pPr>
                      <a:r>
                        <a:t>199 633</a:t>
                      </a:r>
                    </a:p>
                  </a:txBody>
                  <a:tcPr marL="54864" marR="54864">
                    <a:noFill/>
                  </a:tcPr>
                </a:tc>
              </a:tr>
              <a:tr h="345440">
                <a:tc>
                  <a:txBody>
                    <a:bodyPr/>
                    <a:lstStyle/>
                    <a:p>
                      <a:pPr algn="l">
                        <a:defRPr sz="1250" b="0">
                          <a:solidFill>
                            <a:srgbClr val="6B6A64"/>
                          </a:solidFill>
                        </a:defRPr>
                      </a:pPr>
                      <a:r>
                        <a:t>Guatemala</a:t>
                      </a:r>
                    </a:p>
                  </a:txBody>
                  <a:tcPr marL="54864" marR="54864"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defRPr sz="1250" b="0">
                          <a:solidFill>
                            <a:srgbClr val="6B6A64"/>
                          </a:solidFill>
                        </a:defRPr>
                      </a:pPr>
                      <a:r>
                        <a:t>ENCOVI</a:t>
                      </a:r>
                    </a:p>
                  </a:txBody>
                  <a:tcPr marL="54864" marR="54864"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defRPr sz="1250" b="0">
                          <a:solidFill>
                            <a:srgbClr val="6B6A64"/>
                          </a:solidFill>
                        </a:defRPr>
                      </a:pPr>
                      <a:r>
                        <a:t>solo 2023</a:t>
                      </a:r>
                    </a:p>
                  </a:txBody>
                  <a:tcPr marL="54864" marR="54864"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defRPr sz="1250" b="0">
                          <a:solidFill>
                            <a:srgbClr val="6B6A64"/>
                          </a:solidFill>
                        </a:defRPr>
                      </a:pPr>
                      <a:r>
                        <a:t>6.8 mill.</a:t>
                      </a:r>
                    </a:p>
                  </a:txBody>
                  <a:tcPr marL="54864" marR="54864"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defRPr sz="1250" b="0">
                          <a:solidFill>
                            <a:srgbClr val="6B6A64"/>
                          </a:solidFill>
                        </a:defRPr>
                      </a:pPr>
                      <a:r>
                        <a:t>256 077</a:t>
                      </a:r>
                    </a:p>
                  </a:txBody>
                  <a:tcPr marL="54864" marR="54864">
                    <a:noFill/>
                  </a:tcPr>
                </a:tc>
              </a:tr>
              <a:tr h="345440">
                <a:tc>
                  <a:txBody>
                    <a:bodyPr/>
                    <a:lstStyle/>
                    <a:p>
                      <a:pPr algn="l">
                        <a:defRPr sz="1250" b="0">
                          <a:solidFill>
                            <a:srgbClr val="6B6A64"/>
                          </a:solidFill>
                        </a:defRPr>
                      </a:pPr>
                      <a:r>
                        <a:t>El Salvador</a:t>
                      </a:r>
                    </a:p>
                  </a:txBody>
                  <a:tcPr marL="54864" marR="54864"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defRPr sz="1250" b="0">
                          <a:solidFill>
                            <a:srgbClr val="6B6A64"/>
                          </a:solidFill>
                        </a:defRPr>
                      </a:pPr>
                      <a:r>
                        <a:t>EHPM</a:t>
                      </a:r>
                    </a:p>
                  </a:txBody>
                  <a:tcPr marL="54864" marR="54864"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defRPr sz="1250" b="0">
                          <a:solidFill>
                            <a:srgbClr val="6B6A64"/>
                          </a:solidFill>
                        </a:defRPr>
                      </a:pPr>
                      <a:r>
                        <a:t>2021–2025</a:t>
                      </a:r>
                    </a:p>
                  </a:txBody>
                  <a:tcPr marL="54864" marR="54864"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defRPr sz="1250" b="0">
                          <a:solidFill>
                            <a:srgbClr val="6B6A64"/>
                          </a:solidFill>
                        </a:defRPr>
                      </a:pPr>
                      <a:r>
                        <a:t>3.0 mill.</a:t>
                      </a:r>
                    </a:p>
                  </a:txBody>
                  <a:tcPr marL="54864" marR="54864"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defRPr sz="1250" b="0">
                          <a:solidFill>
                            <a:srgbClr val="6B6A64"/>
                          </a:solidFill>
                        </a:defRPr>
                      </a:pPr>
                      <a:r>
                        <a:t>no entregados</a:t>
                      </a:r>
                    </a:p>
                  </a:txBody>
                  <a:tcPr marL="54864" marR="54864">
                    <a:noFill/>
                  </a:tcPr>
                </a:tc>
              </a:tr>
              <a:tr h="345440"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1C1C1A"/>
                          </a:solidFill>
                        </a:defRPr>
                      </a:pPr>
                      <a:r>
                        <a:t>Panamá</a:t>
                      </a:r>
                    </a:p>
                  </a:txBody>
                  <a:tcPr marL="54864" marR="54864"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defRPr sz="1250" b="1">
                          <a:solidFill>
                            <a:srgbClr val="1C1C1A"/>
                          </a:solidFill>
                        </a:defRPr>
                      </a:pPr>
                      <a:r>
                        <a:t>sin datos</a:t>
                      </a:r>
                    </a:p>
                  </a:txBody>
                  <a:tcPr marL="54864" marR="54864"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defRPr sz="1250" b="1">
                          <a:solidFill>
                            <a:srgbClr val="1C1C1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marL="54864" marR="54864"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defRPr sz="1250" b="1">
                          <a:solidFill>
                            <a:srgbClr val="1C1C1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marL="54864" marR="54864"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defRPr sz="1250" b="1">
                          <a:solidFill>
                            <a:srgbClr val="1C1C1A"/>
                          </a:solidFill>
                        </a:defRPr>
                      </a:pPr>
                      <a:r>
                        <a:t>no entregados</a:t>
                      </a:r>
                    </a:p>
                  </a:txBody>
                  <a:tcPr marL="54864" marR="54864">
                    <a:noFill/>
                  </a:tcPr>
                </a:tc>
              </a:tr>
              <a:tr h="345440"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1C1C1A"/>
                          </a:solidFill>
                        </a:defRPr>
                      </a:pPr>
                      <a:r>
                        <a:t>Nicaragua</a:t>
                      </a:r>
                    </a:p>
                  </a:txBody>
                  <a:tcPr marL="54864" marR="54864"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defRPr sz="1250" b="1">
                          <a:solidFill>
                            <a:srgbClr val="1C1C1A"/>
                          </a:solidFill>
                        </a:defRPr>
                      </a:pPr>
                      <a:r>
                        <a:t>sin datos</a:t>
                      </a:r>
                    </a:p>
                  </a:txBody>
                  <a:tcPr marL="54864" marR="54864"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defRPr sz="1250" b="1">
                          <a:solidFill>
                            <a:srgbClr val="1C1C1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marL="54864" marR="54864"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defRPr sz="1250" b="1">
                          <a:solidFill>
                            <a:srgbClr val="1C1C1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marL="54864" marR="54864"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defRPr sz="1250" b="1">
                          <a:solidFill>
                            <a:srgbClr val="1C1C1A"/>
                          </a:solidFill>
                        </a:defRPr>
                      </a:pPr>
                      <a:r>
                        <a:t>no entregados</a:t>
                      </a:r>
                    </a:p>
                  </a:txBody>
                  <a:tcPr marL="54864" marR="54864">
                    <a:noFill/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052560" y="1874519"/>
            <a:ext cx="274320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1C1C1A"/>
                </a:solidFill>
                <a:latin typeface="Calibri"/>
              </a:rPr>
              <a:t>Qué significa esto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1C1C1A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1C1C1A"/>
                </a:solidFill>
                <a:latin typeface="Calibri"/>
              </a:rPr>
              <a:t>Cuando decimos CAPARD hablamos de cinco países en las encuestas y de cuatro en los anuncios.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1C1C1A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1C1C1A"/>
                </a:solidFill>
                <a:latin typeface="Calibri"/>
              </a:rPr>
              <a:t>Guatemala tiene un solo año, así que no entra en ninguna tendencia.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1C1C1A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1C1C1A"/>
                </a:solidFill>
                <a:latin typeface="Calibri"/>
              </a:rPr>
              <a:t>República Dominicana tiene dos cortes, no una serie.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5138928"/>
            <a:ext cx="10874959" cy="0"/>
          </a:xfrm>
          <a:prstGeom prst="line">
            <a:avLst/>
          </a:prstGeom>
          <a:ln w="19050">
            <a:solidFill>
              <a:srgbClr val="E4E4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5349240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1C1C1A"/>
                </a:solidFill>
                <a:latin typeface="Calibri"/>
              </a:rPr>
              <a:t>Cada gráfico dice al pie qué países incluye. Cuando un país falta no es una decisión nuestra: o su encuesta no permite el corte, o sus anuncios no llegaron.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02336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B6A64"/>
                </a:solidFill>
                <a:latin typeface="Calibri"/>
              </a:rPr>
              <a:t>PANORAMA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87495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3000" b="1">
                <a:solidFill>
                  <a:srgbClr val="1C1C1A"/>
                </a:solidFill>
                <a:latin typeface="Calibri"/>
              </a:rPr>
              <a:t>Los empleos formales están igual de expuestos en toda la región</a:t>
            </a:r>
          </a:p>
        </p:txBody>
      </p:sp>
      <p:pic>
        <p:nvPicPr>
          <p:cNvPr id="4" name="Picture 3" descr="W8_comparacion_pai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2118" y="1691640"/>
            <a:ext cx="6707458" cy="4343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8368" y="6199632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6B6A64"/>
                </a:solidFill>
                <a:latin typeface="Calibri"/>
              </a:rPr>
              <a:t>Cada país en su último año con encuesta. El Salvador no tiene anuncios de trabajo porque no fueron entregados; Panamá no tiene ninguna de las dos fuentes.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02336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B6A64"/>
                </a:solidFill>
                <a:latin typeface="Calibri"/>
              </a:rPr>
              <a:t>PANORAMA · QUÉ SIGNIFICA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87495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3000" b="1">
                <a:solidFill>
                  <a:srgbClr val="1C1C1A"/>
                </a:solidFill>
                <a:latin typeface="Calibri"/>
              </a:rPr>
              <a:t>La diferencia entre países es informalidad, no tecnología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920240"/>
            <a:ext cx="3200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4200" b="1">
                <a:solidFill>
                  <a:srgbClr val="2A78D6"/>
                </a:solidFill>
                <a:latin typeface="Calibri"/>
              </a:rPr>
              <a:t>0,21 a 0,29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578608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6B6A64"/>
                </a:solidFill>
                <a:latin typeface="Calibri"/>
              </a:rPr>
              <a:t>Exposición del empleo total: los países se ven muy distintos entre sí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43400" y="1920240"/>
            <a:ext cx="3200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4200" b="1">
                <a:solidFill>
                  <a:srgbClr val="1BAF7A"/>
                </a:solidFill>
                <a:latin typeface="Calibri"/>
              </a:rPr>
              <a:t>0,30 a 0,35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2578608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6B6A64"/>
                </a:solidFill>
                <a:latin typeface="Calibri"/>
              </a:rPr>
              <a:t>Pero si miramos solo el empleo formal, casi no hay diferencia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920240"/>
            <a:ext cx="3200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4200" b="1">
                <a:solidFill>
                  <a:srgbClr val="6B6A64"/>
                </a:solidFill>
                <a:latin typeface="Calibri"/>
              </a:rPr>
              <a:t>+0,89 → 0,00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2578608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6B6A64"/>
                </a:solidFill>
                <a:latin typeface="Calibri"/>
              </a:rPr>
              <a:t>La relación con la informalidad desaparece al comparar solo empleo formal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58368" y="4206240"/>
            <a:ext cx="10874959" cy="0"/>
          </a:xfrm>
          <a:prstGeom prst="line">
            <a:avLst/>
          </a:prstGeom>
          <a:ln w="19050">
            <a:solidFill>
              <a:srgbClr val="E4E4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58368" y="4480560"/>
            <a:ext cx="108813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900" b="0">
                <a:solidFill>
                  <a:srgbClr val="1C1C1A"/>
                </a:solidFill>
                <a:latin typeface="Calibri"/>
              </a:rPr>
              <a:t>Guatemala parece mucho menos expuesta que México. Pero no es porque su empleo formal sea distinto: es porque arrastra mucho más empleo informal, que casi no está expuesto. Cuando comparamos formales con formales, los seis países se parecen.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580644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1BAF7A"/>
                </a:solidFill>
                <a:latin typeface="Calibri"/>
              </a:rPr>
              <a:t>Para política: hablar de exposición a la IA en la región es, en buena medida, hablar de informalidad.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02336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B6A64"/>
                </a:solidFill>
                <a:latin typeface="Calibri"/>
              </a:rPr>
              <a:t>HALLAZGO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87495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3000" b="1">
                <a:solidFill>
                  <a:srgbClr val="1C1C1A"/>
                </a:solidFill>
                <a:latin typeface="Calibri"/>
              </a:rPr>
              <a:t>La IA alcanza más a los empleos calificados que a los de planta</a:t>
            </a:r>
          </a:p>
        </p:txBody>
      </p:sp>
      <p:pic>
        <p:nvPicPr>
          <p:cNvPr id="4" name="Picture 3" descr="W4_escalera_bloqu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5550" y="1645920"/>
            <a:ext cx="6360594" cy="4206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8368" y="6199632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6B6A64"/>
                </a:solidFill>
                <a:latin typeface="Calibri"/>
              </a:rPr>
              <a:t>CAPARD son aquí cuatro países: Costa Rica, El Salvador, Honduras y República Dominicana. Guatemala no aparece porque su encuesta registra la ocupación con menos detalle; Nicaragua y Panamá no están disponibles.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02336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B6A64"/>
                </a:solidFill>
                <a:latin typeface="Calibri"/>
              </a:rPr>
              <a:t>HALLAZGO 1 · QUÉ SIGNIFICA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87495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3000" b="1">
                <a:solidFill>
                  <a:srgbClr val="1C1C1A"/>
                </a:solidFill>
                <a:latin typeface="Calibri"/>
              </a:rPr>
              <a:t>El empleo de planta casi no cambia; el de oficina y oficina técnica, sí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828800"/>
            <a:ext cx="557784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50" b="0">
                <a:solidFill>
                  <a:srgbClr val="1C1C1A"/>
                </a:solidFill>
                <a:latin typeface="Calibri"/>
              </a:rPr>
              <a:t>Más de la mitad del empleo de estos sectores son ensambladores, operarios y empacadores. Su exposición es muy baja: alrededor de 0,10.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50" b="0">
                <a:solidFill>
                  <a:srgbClr val="1C1C1A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50" b="0">
                <a:solidFill>
                  <a:srgbClr val="1C1C1A"/>
                </a:solidFill>
                <a:latin typeface="Calibri"/>
              </a:rPr>
              <a:t>La razón no es que estén protegidos, sino que su trabajo es físico y estas herramientas no lo alcanzan.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50" b="0">
                <a:solidFill>
                  <a:srgbClr val="1C1C1A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50" b="0">
                <a:solidFill>
                  <a:srgbClr val="1C1C1A"/>
                </a:solidFill>
                <a:latin typeface="Calibri"/>
              </a:rPr>
              <a:t>La exposición sube conforme sube la calificación: técnicos 0,41, personal administrativo 0,48, profesionales e ingenieros 0,56.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0" y="1828800"/>
            <a:ext cx="484632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600" b="0">
                <a:solidFill>
                  <a:srgbClr val="1C1C1A"/>
                </a:solidFill>
                <a:latin typeface="Calibri"/>
              </a:rPr>
              <a:t>Y aquí está lo incómodo: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600" b="0">
                <a:solidFill>
                  <a:srgbClr val="1C1C1A"/>
                </a:solidFill>
                <a:latin typeface="Calibri"/>
              </a:rPr>
              <a:t/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600" b="0">
                <a:solidFill>
                  <a:srgbClr val="1C1C1A"/>
                </a:solidFill>
                <a:latin typeface="Calibri"/>
              </a:rPr>
              <a:t>La capa que más alcanza la IA es justamente la que hace falta para que estos sectores pasen a productos de mayor valor.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600" b="0">
                <a:solidFill>
                  <a:srgbClr val="1C1C1A"/>
                </a:solidFill>
                <a:latin typeface="Calibri"/>
              </a:rPr>
              <a:t/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600" b="0">
                <a:solidFill>
                  <a:srgbClr val="1C1C1A"/>
                </a:solidFill>
                <a:latin typeface="Calibri"/>
              </a:rPr>
              <a:t>Subir en la cadena de valor significa mover gente hacia empleos MÁS expuestos, no menos.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5212080"/>
            <a:ext cx="48463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1BAF7A"/>
                </a:solidFill>
                <a:latin typeface="Calibri"/>
              </a:rPr>
              <a:t>La agenda de formación y la de IA no son dos agendas: son la misma.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02336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B6A64"/>
                </a:solidFill>
                <a:latin typeface="Calibri"/>
              </a:rPr>
              <a:t>HALLAZGO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87495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3000" b="1">
                <a:solidFill>
                  <a:srgbClr val="1C1C1A"/>
                </a:solidFill>
                <a:latin typeface="Calibri"/>
              </a:rPr>
              <a:t>En la cadena regional, cada país ocupa un lugar distinto</a:t>
            </a:r>
          </a:p>
        </p:txBody>
      </p:sp>
      <p:pic>
        <p:nvPicPr>
          <p:cNvPr id="4" name="Picture 3" descr="W5_cadena_regional_cap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667" y="1737360"/>
            <a:ext cx="10250361" cy="3931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8368" y="6199632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6B6A64"/>
                </a:solidFill>
                <a:latin typeface="Calibri"/>
              </a:rPr>
              <a:t>Solo se muestran las combinaciones país-sector con más de 5.000 personas ocupadas: por eso El Salvador y Guatemala no aparecen, y Honduras solo en cables.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02336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B6A64"/>
                </a:solidFill>
                <a:latin typeface="Calibri"/>
              </a:rPr>
              <a:t>HALLAZGO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87495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3000" b="1">
                <a:solidFill>
                  <a:srgbClr val="1C1C1A"/>
                </a:solidFill>
                <a:latin typeface="Calibri"/>
              </a:rPr>
              <a:t>Tener gente preparada no basta: hay que atraer los trabajos que la usan</a:t>
            </a:r>
          </a:p>
        </p:txBody>
      </p:sp>
      <p:pic>
        <p:nvPicPr>
          <p:cNvPr id="4" name="Picture 3" descr="W7_brecha_terciaria_ca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271" y="1691640"/>
            <a:ext cx="5975153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8368" y="6199632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6B6A64"/>
                </a:solidFill>
                <a:latin typeface="Calibri"/>
              </a:rPr>
              <a:t>Cuatro países. El Salvador y Guatemala quedan fuera porque sus sectores estratégicos son demasiado pequeños en la muestra para este corte.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02336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B6A64"/>
                </a:solidFill>
                <a:latin typeface="Calibri"/>
              </a:rPr>
              <a:t>HALLAZGO 3 · QUÉ SIGNIFICA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87495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3000" b="1">
                <a:solidFill>
                  <a:srgbClr val="1C1C1A"/>
                </a:solidFill>
                <a:latin typeface="Calibri"/>
              </a:rPr>
              <a:t>República Dominicana tiene la gente, pero no los puestos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965960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4200" b="1">
                <a:solidFill>
                  <a:srgbClr val="2A78D6"/>
                </a:solidFill>
                <a:latin typeface="Calibri"/>
              </a:rPr>
              <a:t>26%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624328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6B6A64"/>
                </a:solidFill>
                <a:latin typeface="Calibri"/>
              </a:rPr>
              <a:t>de los trabajadores dominicanos tienen educación superior — casi lo mismo que México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0" y="1965960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4200" b="1">
                <a:solidFill>
                  <a:srgbClr val="4A3AA7"/>
                </a:solidFill>
                <a:latin typeface="Calibri"/>
              </a:rPr>
              <a:t>13%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2624328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6B6A64"/>
                </a:solidFill>
                <a:latin typeface="Calibri"/>
              </a:rPr>
              <a:t>pero su sector de dispositivos médicos emplea esa proporción de técnicos y profesionales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965960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4200" b="1">
                <a:solidFill>
                  <a:srgbClr val="1BAF7A"/>
                </a:solidFill>
                <a:latin typeface="Calibri"/>
              </a:rPr>
              <a:t>26%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2624328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6B6A64"/>
                </a:solidFill>
                <a:latin typeface="Calibri"/>
              </a:rPr>
              <a:t>Costa Rica, con un stock parecido, llega al doble en el mismo sector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58368" y="4343400"/>
            <a:ext cx="10874959" cy="0"/>
          </a:xfrm>
          <a:prstGeom prst="line">
            <a:avLst/>
          </a:prstGeom>
          <a:ln w="19050">
            <a:solidFill>
              <a:srgbClr val="E4E4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58368" y="4617720"/>
            <a:ext cx="108813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900" b="0">
                <a:solidFill>
                  <a:srgbClr val="1C1C1A"/>
                </a:solidFill>
                <a:latin typeface="Calibri"/>
              </a:rPr>
              <a:t>El país formó a la gente, pero las plantas que instaló son de ensamble. Honduras muestra el caso contrario: emplea más técnicos de los que su nivel educativo haría esperar, y ahí la restricción sí es de formación.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585216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1BAF7A"/>
                </a:solidFill>
                <a:latin typeface="Calibri"/>
              </a:rPr>
              <a:t>Formar y atraer funciones son dos políticas distintas; hacen falta las dos.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02336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B6A64"/>
                </a:solidFill>
                <a:latin typeface="Calibri"/>
              </a:rPr>
              <a:t>HALLAZGO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87495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3000" b="1">
                <a:solidFill>
                  <a:srgbClr val="1C1C1A"/>
                </a:solidFill>
                <a:latin typeface="Calibri"/>
              </a:rPr>
              <a:t>Los anuncios de trabajo delatan en qué se especializa cada bloque</a:t>
            </a:r>
          </a:p>
        </p:txBody>
      </p:sp>
      <p:pic>
        <p:nvPicPr>
          <p:cNvPr id="4" name="Picture 3" descr="W10_habilidades_bloqu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4620" y="1645920"/>
            <a:ext cx="6082455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8368" y="6199632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6B6A64"/>
                </a:solidFill>
                <a:latin typeface="Calibri"/>
              </a:rPr>
              <a:t>925 mil anuncios de CAPARD (Guatemala, Honduras, Costa Rica y República Dominicana) y 1,6 millones de México. El Salvador, Nicaragua y Panamá no tienen anuncios en la base.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02336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B6A64"/>
                </a:solidFill>
                <a:latin typeface="Calibri"/>
              </a:rPr>
              <a:t>HALLAZGO 4 · QUÉ SIGNIFICA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87495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3000" b="1">
                <a:solidFill>
                  <a:srgbClr val="1C1C1A"/>
                </a:solidFill>
                <a:latin typeface="Calibri"/>
              </a:rPr>
              <a:t>México contrata para fábrica de autos; Centroamérica, para planta médica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920240"/>
            <a:ext cx="539496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50" b="0">
                <a:solidFill>
                  <a:srgbClr val="1C1C1A"/>
                </a:solidFill>
                <a:latin typeface="Calibri"/>
              </a:rPr>
              <a:t>México pide mucho más: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50" b="0">
                <a:solidFill>
                  <a:srgbClr val="1C1C1A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50" b="0">
                <a:solidFill>
                  <a:srgbClr val="1C1C1A"/>
                </a:solidFill>
                <a:latin typeface="Calibri"/>
              </a:rPr>
              <a:t>•  Herramientas de calidad de la industria automotriz (ocho veces más que CAPARD)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50" b="0">
                <a:solidFill>
                  <a:srgbClr val="1C1C1A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50" b="0">
                <a:solidFill>
                  <a:srgbClr val="1C1C1A"/>
                </a:solidFill>
                <a:latin typeface="Calibri"/>
              </a:rPr>
              <a:t>•  Análisis de fallas en la producción (tres veces más)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50" b="0">
                <a:solidFill>
                  <a:srgbClr val="1C1C1A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50" b="0">
                <a:solidFill>
                  <a:srgbClr val="1C1C1A"/>
                </a:solidFill>
                <a:latin typeface="Calibri"/>
              </a:rPr>
              <a:t>•  Robótica (casi cuatro veces más)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92240" y="1920240"/>
            <a:ext cx="502920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50" b="0">
                <a:solidFill>
                  <a:srgbClr val="1C1C1A"/>
                </a:solidFill>
                <a:latin typeface="Calibri"/>
              </a:rPr>
              <a:t>CAPARD pide mucho más: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50" b="0">
                <a:solidFill>
                  <a:srgbClr val="1C1C1A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50" b="0">
                <a:solidFill>
                  <a:srgbClr val="1C1C1A"/>
                </a:solidFill>
                <a:latin typeface="Calibri"/>
              </a:rPr>
              <a:t>•  Excel y herramientas de análisis de datos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50" b="0">
                <a:solidFill>
                  <a:srgbClr val="1C1C1A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50" b="0">
                <a:solidFill>
                  <a:srgbClr val="1C1C1A"/>
                </a:solidFill>
                <a:latin typeface="Calibri"/>
              </a:rPr>
              <a:t>•  Buenas prácticas de manufactura (tres veces más)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50" b="0">
                <a:solidFill>
                  <a:srgbClr val="1C1C1A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50" b="0">
                <a:solidFill>
                  <a:srgbClr val="1C1C1A"/>
                </a:solidFill>
                <a:latin typeface="Calibri"/>
              </a:rPr>
              <a:t>•  Requisitos de la FDA, la agencia sanitaria de Estados Unidos (tres veces más)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4892040"/>
            <a:ext cx="10874959" cy="0"/>
          </a:xfrm>
          <a:prstGeom prst="line">
            <a:avLst/>
          </a:prstGeom>
          <a:ln w="19050">
            <a:solidFill>
              <a:srgbClr val="E4E4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5120640"/>
            <a:ext cx="108813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 b="0">
                <a:solidFill>
                  <a:srgbClr val="1C1C1A"/>
                </a:solidFill>
                <a:latin typeface="Calibri"/>
              </a:rPr>
              <a:t>Es la huella de los dispositivos médicos —un sector regulado por la FDA— frente a la de las cadenas automotriz y electrónica. Lo que la Nota Técnica ve en las exportaciones, se ve igual en los anuncios de empleo.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17220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6B6A64"/>
                </a:solidFill>
                <a:latin typeface="Calibri"/>
              </a:rPr>
              <a:t>El inglés se pide casi igual en los dos bloques (16% y 15%): la brecha de idioma que suele suponerse no aparece.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02336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B6A64"/>
                </a:solidFill>
                <a:latin typeface="Calibri"/>
              </a:rPr>
              <a:t>LA PREGUNTA DE FONDO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87495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3000" b="1">
                <a:solidFill>
                  <a:srgbClr val="1C1C1A"/>
                </a:solidFill>
                <a:latin typeface="Calibri"/>
              </a:rPr>
              <a:t>¿Está la región formando la gente que estos sectores necesitan?</a:t>
            </a:r>
          </a:p>
        </p:txBody>
      </p:sp>
      <p:pic>
        <p:nvPicPr>
          <p:cNvPr id="4" name="Picture 3" descr="W11_escalamien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5" y="1737360"/>
            <a:ext cx="8716965" cy="3931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8368" y="6199632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6B6A64"/>
                </a:solidFill>
                <a:latin typeface="Calibri"/>
              </a:rPr>
              <a:t>Izquierda: los dos países cuya encuesta permite seguir el sector año a año; Costa Rica desde 2016, porque su encuesta previa a la pandemia sí está en el kit. En 2020 no hubo encuesta. Derecha: los cinco países con anuncios, sobre el total de su economía, porque la base no permite separar los sectores.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02336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B6A64"/>
                </a:solidFill>
                <a:latin typeface="Calibri"/>
              </a:rPr>
              <a:t>LA RESPUESTA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87495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3000" b="1">
                <a:solidFill>
                  <a:srgbClr val="1C1C1A"/>
                </a:solidFill>
                <a:latin typeface="Calibri"/>
              </a:rPr>
              <a:t>Las empresas piden más gente calificada; el empleo no la está dando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965960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4200" b="1">
                <a:solidFill>
                  <a:srgbClr val="4A3AA7"/>
                </a:solidFill>
                <a:latin typeface="Calibri"/>
              </a:rPr>
              <a:t>−0,9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624328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6B6A64"/>
                </a:solidFill>
                <a:latin typeface="Calibri"/>
              </a:rPr>
              <a:t>puntos por año cae la proporción de técnicos y profesionales en los sectores mexicanos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0" y="1965960"/>
            <a:ext cx="32918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4200" b="1">
                <a:solidFill>
                  <a:srgbClr val="6B6A64"/>
                </a:solidFill>
                <a:latin typeface="Calibri"/>
              </a:rPr>
              <a:t>617 → 633 mil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2624328"/>
            <a:ext cx="32918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6B6A64"/>
                </a:solidFill>
                <a:latin typeface="Calibri"/>
              </a:rPr>
              <a:t>y eso pasa mientras el empleo del sector crece: contrata, pero hacia abajo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1965960"/>
            <a:ext cx="29260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4200" b="1">
                <a:solidFill>
                  <a:srgbClr val="1BAF7A"/>
                </a:solidFill>
                <a:latin typeface="Calibri"/>
              </a:rPr>
              <a:t>+6,7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2624328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6B6A64"/>
                </a:solidFill>
                <a:latin typeface="Calibri"/>
              </a:rPr>
              <a:t>puntos sube esa misma proporción en los anuncios mexicanos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749039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6B6A64"/>
                </a:solidFill>
                <a:latin typeface="Calibri"/>
              </a:rPr>
              <a:t>Costa Rica permite mirar una década entera: entre 2016 y 2024 el empleo del sector se duplicó, y la proporción de técnicos y profesionales pasó de 31% antes de la pandemia a 27% después. No subió en ningún tramo.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58368" y="4590288"/>
            <a:ext cx="10874959" cy="0"/>
          </a:xfrm>
          <a:prstGeom prst="line">
            <a:avLst/>
          </a:prstGeom>
          <a:ln w="19050">
            <a:solidFill>
              <a:srgbClr val="E4E4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58368" y="4846320"/>
            <a:ext cx="108813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900" b="0">
                <a:solidFill>
                  <a:srgbClr val="1C1C1A"/>
                </a:solidFill>
                <a:latin typeface="Calibri"/>
              </a:rPr>
              <a:t>La Nota Técnica acierta: el capital humano calificado es el margen que importa. Pero el crecimiento exportador no lo está resolviendo solo. Los sectores crearon empleo ensanchando la base, no la capa que permite escalar.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053328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1BAF7A"/>
                </a:solidFill>
                <a:latin typeface="Calibri"/>
              </a:rPr>
              <a:t>No conviene dar por hecho que el auge exportador arrastrará por sí solo la calificación de la fuerza laboral.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02336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B6A64"/>
                </a:solidFill>
                <a:latin typeface="Calibri"/>
              </a:rPr>
              <a:t>HONESTIDAD SOBRE LOS DATOS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87495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3000" b="1">
                <a:solidFill>
                  <a:srgbClr val="1C1C1A"/>
                </a:solidFill>
                <a:latin typeface="Calibri"/>
              </a:rPr>
              <a:t>Lo que estos números NO nos permiten decir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828800"/>
            <a:ext cx="1088136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1C1C1A"/>
                </a:solidFill>
                <a:latin typeface="Calibri"/>
              </a:rPr>
              <a:t>•  No sabemos si se van a perder empleos. La medida dice cuánto tiempo se puede ahorrar, no quién se queda con ese ahorro.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1C1C1A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1C1C1A"/>
                </a:solidFill>
                <a:latin typeface="Calibri"/>
              </a:rPr>
              <a:t>•  Los anuncios en línea no son el mercado laboral. Son la parte formal y urbana: sirven para ver qué se pide, no cuántos empleos hay.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1C1C1A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1C1C1A"/>
                </a:solidFill>
                <a:latin typeface="Calibri"/>
              </a:rPr>
              <a:t>•  Faltan países. Nicaragua y Panamá no están; El Salvador no tiene anuncios. Nuestro CAPARD nunca son los siete países.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1C1C1A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1C1C1A"/>
                </a:solidFill>
                <a:latin typeface="Calibri"/>
              </a:rPr>
              <a:t>•  Guatemala queda fuera de varios análisis porque su encuesta registra la ocupación con menos detalle que las demás.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1C1C1A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1C1C1A"/>
                </a:solidFill>
                <a:latin typeface="Calibri"/>
              </a:rPr>
              <a:t>•  Un empleo poco expuesto también gana poco con la IA. Estar a salvo de esta ola y estar estancado en tareas de bajo valor son, en estos datos, la misma cosa.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02336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B6A64"/>
                </a:solidFill>
                <a:latin typeface="Calibri"/>
              </a:rPr>
              <a:t>PARA DISCUSIÓN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87495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3000" b="1">
                <a:solidFill>
                  <a:srgbClr val="1C1C1A"/>
                </a:solidFill>
                <a:latin typeface="Calibri"/>
              </a:rPr>
              <a:t>Cuatro cosas que se desprenden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783080"/>
            <a:ext cx="539496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50" b="0">
                <a:solidFill>
                  <a:srgbClr val="1C1C1A"/>
                </a:solidFill>
                <a:latin typeface="Calibri"/>
              </a:rPr>
              <a:t>1.  No frenar la atracción de estos sectores por miedo a la IA. Su base de empleo es de las menos alcanzables por estas herramientas.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50" b="0">
                <a:solidFill>
                  <a:srgbClr val="1C1C1A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50" b="0">
                <a:solidFill>
                  <a:srgbClr val="1C1C1A"/>
                </a:solidFill>
                <a:latin typeface="Calibri"/>
              </a:rPr>
              <a:t>2.  Pero tampoco esperar que el auge resuelva la calificación. Hoy los sectores crecen ensanchando la planta, no la capa técnica.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92240" y="1783080"/>
            <a:ext cx="502920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50" b="0">
                <a:solidFill>
                  <a:srgbClr val="1C1C1A"/>
                </a:solidFill>
                <a:latin typeface="Calibri"/>
              </a:rPr>
              <a:t>3.  Formar técnicos y profesionales es a la vez la agenda exportadora y la agenda de IA. Es la misma gente.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50" b="0">
                <a:solidFill>
                  <a:srgbClr val="1C1C1A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50" b="0">
                <a:solidFill>
                  <a:srgbClr val="1C1C1A"/>
                </a:solidFill>
                <a:latin typeface="Calibri"/>
              </a:rPr>
              <a:t>4.  Atender al personal administrativo. Son unas 60 mil personas en estos sectores, con la exposición más alta después de los profesionales, y el debate público casi no los menciona.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5257800"/>
            <a:ext cx="10874959" cy="0"/>
          </a:xfrm>
          <a:prstGeom prst="line">
            <a:avLst/>
          </a:prstGeom>
          <a:ln w="19050">
            <a:solidFill>
              <a:srgbClr val="E4E4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54864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6B6A64"/>
                </a:solidFill>
                <a:latin typeface="Calibri"/>
              </a:rPr>
              <a:t>Pendiente: conseguir los anuncios de Panamá y El Salvador, y explorar con el equipo si conviene un corte por tamaño de empresa.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658368" y="2377440"/>
            <a:ext cx="1463040" cy="0"/>
          </a:xfrm>
          <a:prstGeom prst="line">
            <a:avLst/>
          </a:prstGeom>
          <a:ln w="50800">
            <a:solidFill>
              <a:srgbClr val="1BA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658368" y="2697480"/>
            <a:ext cx="104241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6B6A64"/>
                </a:solidFill>
                <a:latin typeface="Calibri"/>
              </a:rPr>
              <a:t>EN UNA FRASE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108960"/>
            <a:ext cx="1060704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600" b="0">
                <a:solidFill>
                  <a:srgbClr val="1C1C1A"/>
                </a:solidFill>
                <a:latin typeface="Calibri"/>
              </a:rPr>
              <a:t>La inteligencia artificial no amenaza la planta de estos sectores: alcanza sobre todo a la capa calificada, que es justamente la que la región necesita ampliar para exportar más valor. Y esa capa no está creciendo.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669280"/>
            <a:ext cx="106070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6B6A64"/>
                </a:solidFill>
                <a:latin typeface="Calibri"/>
              </a:rPr>
              <a:t>Material completo, con todas las figuras y los cuadros: etorresram.github.io/CID-Technical-Note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